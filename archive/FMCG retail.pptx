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61" r:id="rId5"/>
    <p:sldId id="259" r:id="rId6"/>
    <p:sldId id="262" r:id="rId7"/>
    <p:sldId id="256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0505EA-3DE8-4753-A665-564AA3FDFB00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6222FCC-CC64-4323-9604-4A1E44F3F30A}">
      <dgm:prSet/>
      <dgm:spPr/>
      <dgm:t>
        <a:bodyPr/>
        <a:lstStyle/>
        <a:p>
          <a:r>
            <a:rPr lang="en-US" dirty="0">
              <a:latin typeface="Bahnschrift Light Condensed" panose="020B0502040204020203" pitchFamily="34" charset="0"/>
            </a:rPr>
            <a:t>A REPORT ON A FMCG RETAIL BUSINESS FROM 2024-2026</a:t>
          </a:r>
        </a:p>
      </dgm:t>
    </dgm:pt>
    <dgm:pt modelId="{F2E57D52-AC2A-45FF-831E-C24713C48F0B}" type="parTrans" cxnId="{1B5832C0-8D4A-420E-A56D-91D6EE171020}">
      <dgm:prSet/>
      <dgm:spPr/>
      <dgm:t>
        <a:bodyPr/>
        <a:lstStyle/>
        <a:p>
          <a:endParaRPr lang="en-US"/>
        </a:p>
      </dgm:t>
    </dgm:pt>
    <dgm:pt modelId="{AABBCA46-1022-45E5-A4A5-D34E4C58C5BA}" type="sibTrans" cxnId="{1B5832C0-8D4A-420E-A56D-91D6EE171020}">
      <dgm:prSet/>
      <dgm:spPr/>
      <dgm:t>
        <a:bodyPr/>
        <a:lstStyle/>
        <a:p>
          <a:endParaRPr lang="en-US"/>
        </a:p>
      </dgm:t>
    </dgm:pt>
    <dgm:pt modelId="{4CA834CC-7375-44D6-A01D-0F917AE4A463}" type="pres">
      <dgm:prSet presAssocID="{BC0505EA-3DE8-4753-A665-564AA3FDFB00}" presName="linear" presStyleCnt="0">
        <dgm:presLayoutVars>
          <dgm:animLvl val="lvl"/>
          <dgm:resizeHandles val="exact"/>
        </dgm:presLayoutVars>
      </dgm:prSet>
      <dgm:spPr/>
    </dgm:pt>
    <dgm:pt modelId="{CFAEE371-5A2C-4D31-8297-E590ADEC2AEE}" type="pres">
      <dgm:prSet presAssocID="{D6222FCC-CC64-4323-9604-4A1E44F3F30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6D4C72C-3F08-4AB5-88EF-068F6B757B94}" type="presOf" srcId="{BC0505EA-3DE8-4753-A665-564AA3FDFB00}" destId="{4CA834CC-7375-44D6-A01D-0F917AE4A463}" srcOrd="0" destOrd="0" presId="urn:microsoft.com/office/officeart/2005/8/layout/vList2"/>
    <dgm:cxn modelId="{9DDF27B3-3F8E-451F-9A21-3A8480D8415E}" type="presOf" srcId="{D6222FCC-CC64-4323-9604-4A1E44F3F30A}" destId="{CFAEE371-5A2C-4D31-8297-E590ADEC2AEE}" srcOrd="0" destOrd="0" presId="urn:microsoft.com/office/officeart/2005/8/layout/vList2"/>
    <dgm:cxn modelId="{1B5832C0-8D4A-420E-A56D-91D6EE171020}" srcId="{BC0505EA-3DE8-4753-A665-564AA3FDFB00}" destId="{D6222FCC-CC64-4323-9604-4A1E44F3F30A}" srcOrd="0" destOrd="0" parTransId="{F2E57D52-AC2A-45FF-831E-C24713C48F0B}" sibTransId="{AABBCA46-1022-45E5-A4A5-D34E4C58C5BA}"/>
    <dgm:cxn modelId="{B3DF9B7B-EB80-4766-8D54-D0949F635B09}" type="presParOf" srcId="{4CA834CC-7375-44D6-A01D-0F917AE4A463}" destId="{CFAEE371-5A2C-4D31-8297-E590ADEC2AE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EE371-5A2C-4D31-8297-E590ADEC2AEE}">
      <dsp:nvSpPr>
        <dsp:cNvPr id="0" name=""/>
        <dsp:cNvSpPr/>
      </dsp:nvSpPr>
      <dsp:spPr>
        <a:xfrm>
          <a:off x="0" y="272610"/>
          <a:ext cx="8001000" cy="24265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 dirty="0">
              <a:latin typeface="Bahnschrift Light Condensed" panose="020B0502040204020203" pitchFamily="34" charset="0"/>
            </a:rPr>
            <a:t>A REPORT ON A FMCG RETAIL BUSINESS FROM 2024-2026</a:t>
          </a:r>
        </a:p>
      </dsp:txBody>
      <dsp:txXfrm>
        <a:off x="118456" y="391066"/>
        <a:ext cx="7764088" cy="2189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39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1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4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6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78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9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38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5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1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1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48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736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55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7599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82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703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9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4841274-979D-4569-AB54-E59030259CF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68D88BA-89C0-4B0F-9D35-BFB4FAC22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342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cuments\Data%20Analytics%20Course\Project\individual.xlsx!dashboard!R1C1:R44C51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E3A82F4-EDCA-41E0-AD2B-E4F565C6ED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274441"/>
              </p:ext>
            </p:extLst>
          </p:nvPr>
        </p:nvGraphicFramePr>
        <p:xfrm>
          <a:off x="684212" y="685799"/>
          <a:ext cx="8001000" cy="2971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D3BB178C-3D32-43EB-9AEF-3C21A378E2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</a:rPr>
              <a:t>BY ASAKOME OGHENAKHOGIE CELESTINE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DATA ANALYST</a:t>
            </a:r>
          </a:p>
        </p:txBody>
      </p:sp>
    </p:spTree>
    <p:extLst>
      <p:ext uri="{BB962C8B-B14F-4D97-AF65-F5344CB8AC3E}">
        <p14:creationId xmlns:p14="http://schemas.microsoft.com/office/powerpoint/2010/main" val="3405985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F195CB6-D62D-40FB-8E60-AABA1453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ookman Old Style" panose="02050604050505020204" pitchFamily="18" charset="0"/>
              </a:rPr>
              <a:t>Brief overview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3D775B3-B706-4380-A770-4F666DB9B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dataset contains approximately 1800 transaction records.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Each row represents a customer purchase transaction.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dataset includes 12 columns covering customer information, product category, price, quantity, and payment method.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dataset simulates real-world retail transaction data.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611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6626-3489-403E-B885-1687203E4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D8353-8D37-4EDE-A4AB-BFF828665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main goals of this analysis are: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Clean and standardize the dataset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Handle missing and invalid values appropriately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Create new analytical features such as revenue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Analyze sales trends and product category performance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Generate insights to support business decision-making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73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3C78-A985-4024-8BBC-1D54FA2E0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 Issues Identified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571E2-4F81-4CDD-B05E-18CC08C8E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Several common data quality problems existed in the dataset: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Missing values in age, email, </a:t>
            </a:r>
            <a:r>
              <a:rPr lang="en-US" dirty="0" err="1">
                <a:solidFill>
                  <a:schemeClr val="tx1"/>
                </a:solidFill>
              </a:rPr>
              <a:t>unit_price</a:t>
            </a:r>
            <a:r>
              <a:rPr lang="en-US" dirty="0">
                <a:solidFill>
                  <a:schemeClr val="tx1"/>
                </a:solidFill>
              </a:rPr>
              <a:t>, quantity, and </a:t>
            </a:r>
            <a:r>
              <a:rPr lang="en-US" dirty="0" err="1">
                <a:solidFill>
                  <a:schemeClr val="tx1"/>
                </a:solidFill>
              </a:rPr>
              <a:t>transaction_date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Inconsistent country naming (e.g., Nigeria vs </a:t>
            </a:r>
            <a:r>
              <a:rPr lang="en-US" dirty="0" err="1">
                <a:solidFill>
                  <a:schemeClr val="tx1"/>
                </a:solidFill>
              </a:rPr>
              <a:t>nigeria</a:t>
            </a:r>
            <a:r>
              <a:rPr lang="en-US" dirty="0">
                <a:solidFill>
                  <a:schemeClr val="tx1"/>
                </a:solidFill>
              </a:rPr>
              <a:t>, USA vs United States)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Mixed data types in the </a:t>
            </a:r>
            <a:r>
              <a:rPr lang="en-US" dirty="0" err="1">
                <a:solidFill>
                  <a:schemeClr val="tx1"/>
                </a:solidFill>
              </a:rPr>
              <a:t>unit_price</a:t>
            </a:r>
            <a:r>
              <a:rPr lang="en-US" dirty="0">
                <a:solidFill>
                  <a:schemeClr val="tx1"/>
                </a:solidFill>
              </a:rPr>
              <a:t> column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Negative or invalid quantity values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Case inconsistencies in </a:t>
            </a:r>
            <a:r>
              <a:rPr lang="en-US" dirty="0" err="1">
                <a:solidFill>
                  <a:schemeClr val="tx1"/>
                </a:solidFill>
              </a:rPr>
              <a:t>product_category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dirty="0" err="1">
                <a:solidFill>
                  <a:schemeClr val="tx1"/>
                </a:solidFill>
              </a:rPr>
              <a:t>payment_method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397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F8BE9-F886-4B84-B53A-AC7F3466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DATA CLEANING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66F85-3287-4128-8F74-C7CF1167F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All inconsistent </a:t>
            </a:r>
            <a:r>
              <a:rPr lang="en-US" dirty="0" err="1">
                <a:solidFill>
                  <a:schemeClr val="tx1"/>
                </a:solidFill>
              </a:rPr>
              <a:t>namings</a:t>
            </a:r>
            <a:r>
              <a:rPr lang="en-US" dirty="0">
                <a:solidFill>
                  <a:schemeClr val="tx1"/>
                </a:solidFill>
              </a:rPr>
              <a:t> were corrected and adjusted to a single standard.</a:t>
            </a:r>
          </a:p>
          <a:p>
            <a:r>
              <a:rPr lang="en-US" dirty="0">
                <a:solidFill>
                  <a:schemeClr val="tx1"/>
                </a:solidFill>
              </a:rPr>
              <a:t>Mixed data types in </a:t>
            </a:r>
            <a:r>
              <a:rPr lang="en-US" dirty="0" err="1">
                <a:solidFill>
                  <a:schemeClr val="tx1"/>
                </a:solidFill>
              </a:rPr>
              <a:t>unit_price</a:t>
            </a:r>
            <a:r>
              <a:rPr lang="en-US" dirty="0">
                <a:solidFill>
                  <a:schemeClr val="tx1"/>
                </a:solidFill>
              </a:rPr>
              <a:t> column were converted into numbers.</a:t>
            </a:r>
          </a:p>
          <a:p>
            <a:r>
              <a:rPr lang="en-US" dirty="0">
                <a:solidFill>
                  <a:schemeClr val="tx1"/>
                </a:solidFill>
              </a:rPr>
              <a:t>Negative or invalid quantity values were adjusted.</a:t>
            </a:r>
          </a:p>
          <a:p>
            <a:r>
              <a:rPr lang="en-US" dirty="0">
                <a:solidFill>
                  <a:schemeClr val="tx1"/>
                </a:solidFill>
              </a:rPr>
              <a:t>Missing values in age and unit _price were handled by using averages while data with missing transaction dates were removed entirely.</a:t>
            </a:r>
          </a:p>
          <a:p>
            <a:r>
              <a:rPr lang="en-US" dirty="0">
                <a:solidFill>
                  <a:schemeClr val="tx1"/>
                </a:solidFill>
              </a:rPr>
              <a:t>Missing emails were left unattended to.</a:t>
            </a:r>
          </a:p>
        </p:txBody>
      </p:sp>
    </p:spTree>
    <p:extLst>
      <p:ext uri="{BB962C8B-B14F-4D97-AF65-F5344CB8AC3E}">
        <p14:creationId xmlns:p14="http://schemas.microsoft.com/office/powerpoint/2010/main" val="3417424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9EFC58-6BC4-4B96-B167-3E143894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601B1-BBAA-4067-96B8-EC08B9A44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After cleaning the dataset, exploratory analysis focuses on: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Sales distribution across countries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Most popular product categories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Customer age distribution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Sales trends over time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95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A14E62D-9C36-4B43-9093-191A8864A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864430"/>
              </p:ext>
            </p:extLst>
          </p:nvPr>
        </p:nvGraphicFramePr>
        <p:xfrm>
          <a:off x="91102" y="528506"/>
          <a:ext cx="11986111" cy="6140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Worksheet" r:id="rId3" imgW="17887770" imgH="8439168" progId="Excel.Sheet.12">
                  <p:link updateAutomatic="1"/>
                </p:oleObj>
              </mc:Choice>
              <mc:Fallback>
                <p:oleObj name="Worksheet" r:id="rId3" imgW="17887770" imgH="843916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102" y="528506"/>
                        <a:ext cx="11986111" cy="61407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012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D76B-857F-41BE-B0C5-114C9F40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KEY INSIGHTS AND RECOMMENDATIONS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3446E-7F11-4B01-8224-66E566E3B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765516-9EBE-422B-ADCD-FACD07D521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Nigeria and United States generated the most revenue while Turkey and United Kingdom generated the least revenue</a:t>
            </a:r>
          </a:p>
          <a:p>
            <a:r>
              <a:rPr lang="en-US" sz="1600" dirty="0">
                <a:solidFill>
                  <a:schemeClr val="tx1"/>
                </a:solidFill>
              </a:rPr>
              <a:t>Electronics were the most sold product category.</a:t>
            </a:r>
          </a:p>
          <a:p>
            <a:r>
              <a:rPr lang="en-US" sz="1600" dirty="0">
                <a:solidFill>
                  <a:schemeClr val="tx1"/>
                </a:solidFill>
              </a:rPr>
              <a:t>Millennials represent the core customer base.</a:t>
            </a:r>
          </a:p>
          <a:p>
            <a:r>
              <a:rPr lang="en-US" sz="1600" dirty="0">
                <a:solidFill>
                  <a:schemeClr val="tx1"/>
                </a:solidFill>
              </a:rPr>
              <a:t>Revenue increased yearly.</a:t>
            </a:r>
          </a:p>
          <a:p>
            <a:r>
              <a:rPr lang="en-US" sz="1600" dirty="0">
                <a:solidFill>
                  <a:schemeClr val="tx1"/>
                </a:solidFill>
              </a:rPr>
              <a:t>Most customers prefer using card as a means for payments.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C4F6FC-161C-4D47-B583-0123DEB10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RECOMMENDATIONS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781FE4-890E-4D2C-81CB-BF649B61D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5887708" cy="3030538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Expand the market in Nigeria and United States to maximize profits and investigated why the low revenues in Turkey and United Kingdom.</a:t>
            </a:r>
          </a:p>
          <a:p>
            <a:r>
              <a:rPr lang="en-US" sz="1600" dirty="0">
                <a:solidFill>
                  <a:schemeClr val="tx1"/>
                </a:solidFill>
              </a:rPr>
              <a:t>Increase inventory for electronics and promote less sold product categories more.</a:t>
            </a:r>
          </a:p>
          <a:p>
            <a:r>
              <a:rPr lang="en-US" sz="1600" dirty="0">
                <a:solidFill>
                  <a:schemeClr val="tx1"/>
                </a:solidFill>
              </a:rPr>
              <a:t>Target the millennials base and develop strategies to increase other generations engagements.</a:t>
            </a:r>
          </a:p>
          <a:p>
            <a:r>
              <a:rPr lang="en-US" sz="1600" dirty="0">
                <a:solidFill>
                  <a:schemeClr val="tx1"/>
                </a:solidFill>
              </a:rPr>
              <a:t>Continue using working strategies.</a:t>
            </a:r>
          </a:p>
          <a:p>
            <a:r>
              <a:rPr lang="en-US" sz="1600" dirty="0">
                <a:solidFill>
                  <a:schemeClr val="tx1"/>
                </a:solidFill>
              </a:rPr>
              <a:t>Increase card payment systems.</a:t>
            </a:r>
          </a:p>
        </p:txBody>
      </p:sp>
    </p:spTree>
    <p:extLst>
      <p:ext uri="{BB962C8B-B14F-4D97-AF65-F5344CB8AC3E}">
        <p14:creationId xmlns:p14="http://schemas.microsoft.com/office/powerpoint/2010/main" val="217623353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115</TotalTime>
  <Words>379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Bahnschrift Light Condensed</vt:lpstr>
      <vt:lpstr>Bookman Old Style</vt:lpstr>
      <vt:lpstr>Century Gothic</vt:lpstr>
      <vt:lpstr>Wingdings 3</vt:lpstr>
      <vt:lpstr>Slice</vt:lpstr>
      <vt:lpstr>C:\Users\HP\Documents\Data Analytics Course\Project\individual.xlsx!dashboard!R1C1:R44C51</vt:lpstr>
      <vt:lpstr>PowerPoint Presentation</vt:lpstr>
      <vt:lpstr>Brief overview</vt:lpstr>
      <vt:lpstr>Project Objectives</vt:lpstr>
      <vt:lpstr>Data Quality Issues Identified</vt:lpstr>
      <vt:lpstr>DATA CLEANING METHODS</vt:lpstr>
      <vt:lpstr>Exploratory Data Analysis</vt:lpstr>
      <vt:lpstr>PowerPoint Presentation</vt:lpstr>
      <vt:lpstr>KEY INSIGHTS AND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Oghenakhogie Asakome</dc:creator>
  <cp:lastModifiedBy>Oghenakhogie Asakome</cp:lastModifiedBy>
  <cp:revision>8</cp:revision>
  <dcterms:created xsi:type="dcterms:W3CDTF">2026-03-05T10:20:43Z</dcterms:created>
  <dcterms:modified xsi:type="dcterms:W3CDTF">2026-03-05T12:16:27Z</dcterms:modified>
</cp:coreProperties>
</file>